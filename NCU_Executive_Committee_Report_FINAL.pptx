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8471ea3b1e472c" /><Relationship Type="http://schemas.openxmlformats.org/officeDocument/2006/relationships/extended-properties" Target="/docProps/app.xml" Id="R23c9dbb7720046d2" /><Relationship Type="http://schemas.openxmlformats.org/officeDocument/2006/relationships/officeDocument" Target="/ppt/presentation.xml" Id="Rd2f33759d60f46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3613dd2ad9407f"/>
  </p:sldMasterIdLst>
  <p:notesMasterIdLst>
    <p:notesMasterId xmlns:r="http://schemas.openxmlformats.org/officeDocument/2006/relationships" r:id="R86c6d64dfdb648d1"/>
  </p:notesMasterIdLst>
  <p:sldIdLst>
    <p:sldId xmlns:r="http://schemas.openxmlformats.org/officeDocument/2006/relationships" id="256" r:id="R3b1cbd4fe4224f4a"/>
    <p:sldId xmlns:r="http://schemas.openxmlformats.org/officeDocument/2006/relationships" id="257" r:id="Ra041f2237455451d"/>
    <p:sldId xmlns:r="http://schemas.openxmlformats.org/officeDocument/2006/relationships" id="258" r:id="R2b76951c36ef4f9d"/>
    <p:sldId xmlns:r="http://schemas.openxmlformats.org/officeDocument/2006/relationships" id="259" r:id="Ra00c6e7e68dc40ee"/>
    <p:sldId xmlns:r="http://schemas.openxmlformats.org/officeDocument/2006/relationships" id="260" r:id="R5746622470644f33"/>
    <p:sldId xmlns:r="http://schemas.openxmlformats.org/officeDocument/2006/relationships" id="261" r:id="Rbb7d970a8194454e"/>
    <p:sldId xmlns:r="http://schemas.openxmlformats.org/officeDocument/2006/relationships" id="262" r:id="R031729bb36ed4e9a"/>
    <p:sldId xmlns:r="http://schemas.openxmlformats.org/officeDocument/2006/relationships" id="263" r:id="R1496f8e458034554"/>
    <p:sldId xmlns:r="http://schemas.openxmlformats.org/officeDocument/2006/relationships" id="264" r:id="R829a1aa5faf24b33"/>
    <p:sldId xmlns:r="http://schemas.openxmlformats.org/officeDocument/2006/relationships" id="265" r:id="R0fb062646fec4872"/>
    <p:sldId xmlns:r="http://schemas.openxmlformats.org/officeDocument/2006/relationships" id="266" r:id="Ra8701653e5f146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c11704091445a9" /><Relationship Type="http://schemas.openxmlformats.org/officeDocument/2006/relationships/slideMaster" Target="/ppt/slideMasters/slideMaster1.xml" Id="Rbb3613dd2ad9407f" /><Relationship Type="http://schemas.openxmlformats.org/officeDocument/2006/relationships/notesMaster" Target="/ppt/notesMasters/notesMaster1.xml" Id="R86c6d64dfdb648d1" /><Relationship Type="http://schemas.openxmlformats.org/officeDocument/2006/relationships/presProps" Target="/ppt/presProps.xml" Id="Rc023d31f4a8742ad" /><Relationship Type="http://schemas.openxmlformats.org/officeDocument/2006/relationships/tableStyles" Target="/ppt/tableStyles.xml" Id="R58ab2f47fc9544a9" /><Relationship Type="http://schemas.openxmlformats.org/officeDocument/2006/relationships/slide" Target="/ppt/slides/slide1.xml" Id="R3b1cbd4fe4224f4a" /><Relationship Type="http://schemas.openxmlformats.org/officeDocument/2006/relationships/slide" Target="/ppt/slides/slide2.xml" Id="Ra041f2237455451d" /><Relationship Type="http://schemas.openxmlformats.org/officeDocument/2006/relationships/slide" Target="/ppt/slides/slide3.xml" Id="R2b76951c36ef4f9d" /><Relationship Type="http://schemas.openxmlformats.org/officeDocument/2006/relationships/slide" Target="/ppt/slides/slide4.xml" Id="Ra00c6e7e68dc40ee" /><Relationship Type="http://schemas.openxmlformats.org/officeDocument/2006/relationships/slide" Target="/ppt/slides/slide5.xml" Id="R5746622470644f33" /><Relationship Type="http://schemas.openxmlformats.org/officeDocument/2006/relationships/slide" Target="/ppt/slides/slide6.xml" Id="Rbb7d970a8194454e" /><Relationship Type="http://schemas.openxmlformats.org/officeDocument/2006/relationships/slide" Target="/ppt/slides/slide7.xml" Id="R031729bb36ed4e9a" /><Relationship Type="http://schemas.openxmlformats.org/officeDocument/2006/relationships/slide" Target="/ppt/slides/slide8.xml" Id="R1496f8e458034554" /><Relationship Type="http://schemas.openxmlformats.org/officeDocument/2006/relationships/slide" Target="/ppt/slides/slide9.xml" Id="R829a1aa5faf24b33" /><Relationship Type="http://schemas.openxmlformats.org/officeDocument/2006/relationships/slide" Target="/ppt/slides/slide10.xml" Id="R0fb062646fec4872" /><Relationship Type="http://schemas.openxmlformats.org/officeDocument/2006/relationships/slide" Target="/ppt/slides/slide11.xml" Id="Ra8701653e5f146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c5a51463b147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747294f8a0469e" /><Relationship Type="http://schemas.openxmlformats.org/officeDocument/2006/relationships/notesMaster" Target="/ppt/notesMasters/notesMaster1.xml" Id="R3d620e0300844f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e982eff5ca40c1" /><Relationship Type="http://schemas.openxmlformats.org/officeDocument/2006/relationships/notesMaster" Target="/ppt/notesMasters/notesMaster1.xml" Id="Re66a4ea6138e49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478cc6165543f0" /><Relationship Type="http://schemas.openxmlformats.org/officeDocument/2006/relationships/notesMaster" Target="/ppt/notesMasters/notesMaster1.xml" Id="R235f29c3c9ff48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71d92a30444177" /><Relationship Type="http://schemas.openxmlformats.org/officeDocument/2006/relationships/notesMaster" Target="/ppt/notesMasters/notesMaster1.xml" Id="Re5b2b0f9c60a47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05f1b0dff24771" /><Relationship Type="http://schemas.openxmlformats.org/officeDocument/2006/relationships/notesMaster" Target="/ppt/notesMasters/notesMaster1.xml" Id="Redbd47cd39e348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c71b6bfb3c44b4" /><Relationship Type="http://schemas.openxmlformats.org/officeDocument/2006/relationships/notesMaster" Target="/ppt/notesMasters/notesMaster1.xml" Id="R7d1206d0b0ea45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5662b655eb4bfe" /><Relationship Type="http://schemas.openxmlformats.org/officeDocument/2006/relationships/notesMaster" Target="/ppt/notesMasters/notesMaster1.xml" Id="R0857c92e1feb46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f50453ca654c0f" /><Relationship Type="http://schemas.openxmlformats.org/officeDocument/2006/relationships/notesMaster" Target="/ppt/notesMasters/notesMaster1.xml" Id="Ra236253f11d44d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e33b138d5f40ff" /><Relationship Type="http://schemas.openxmlformats.org/officeDocument/2006/relationships/notesMaster" Target="/ppt/notesMasters/notesMaster1.xml" Id="R7fd1f6a3a03b4b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5926293554474d" /><Relationship Type="http://schemas.openxmlformats.org/officeDocument/2006/relationships/notesMaster" Target="/ppt/notesMasters/notesMaster1.xml" Id="R66a62ca900aa49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6cc987b9984edc" /><Relationship Type="http://schemas.openxmlformats.org/officeDocument/2006/relationships/notesMaster" Target="/ppt/notesMasters/notesMaster1.xml" Id="R80d31f7ead8143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Executive Committee update on the bridge year and work already underway. The full three-year plan comes to the Board of Regents in Fall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final report: NCU_Executive_Committee_ReportDW.docx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Enrollment is currently estimated within plus or minus nine percent of the budgeted target of 638. The projected deficit is approximately $2.0 million and unbudgeted repairs total $572,000. Bank covenants remain satisfied.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final report: NCU_Executive_Committee_ReportDW.docx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strategy has three lines: restore recurring financial strength, grow affordable graduate ministry education, and build a stronger network of partners and donors.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final report: NCU_Executive_Committee_ReportDW.docx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Property is one part of the bridge-year response. The broker range is planning evidence, not an offer or net proceeds, and the Board retains each sale and reinvestment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final report: NCU_Executive_Committee_ReportDW.docx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report proposes a limited graduate cohort at $340 per credit, subject to CFO and Provost approval, with a Year One target of 30 new students.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final report: NCU_Executive_Committee_ReportDW.docx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 initiatives are already in motion toward the Year One bridge goal. Detailed three-year financial projections will follow in the Fall 2026 Board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final report: NCU_Executive_Committee_ReportDW.docx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Reach every Christian high school in Minnesota, assign an owner, communicate NCU's mission directly, and track follow-through. This complementary strategy is retained at the user's direction without adding an unsupported enrollment projection.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final report: NCU_Executive_Committee_ReportDW.docx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named relationships in the final report. The full financial and mission-impact analysis of the partnership network follows at the Fall 2026 Board meeting.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final report: NCU_Executive_Committee_ReportDW.docx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report names this body the President's Advancement Council. It expands donor and partner relationships while supporting, not duplicating, the Board and existing advancement staff.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final report: NCU_Executive_Committee_ReportDW.docx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immediate asks are to commission the Board-Cabinet Working Group, guide property strategy, act on the non-core property sale and cell-tower resolutions, and help open useful relationships.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final report: NCU_Executive_Committee_ReportDW.docx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sequence ahead: the August 26 engagements, one integrated CORE and Presidential plan, and the full three-year report to the Board of Regents in Fall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final report: NCU_Executive_Committee_ReportDW.docx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c916a75de41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697c4b7536481c" /><Relationship Type="http://schemas.openxmlformats.org/officeDocument/2006/relationships/slideLayout" Target="/ppt/slideLayouts/slideLayout1.xml" Id="R3513530d28a546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13530d28a546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e3b59768e49d7" /><Relationship Type="http://schemas.openxmlformats.org/officeDocument/2006/relationships/notesSlide" Target="/ppt/notesSlides/notesSlide1.xml" Id="Re79d4985e57d44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d2d528b244b1a" /><Relationship Type="http://schemas.openxmlformats.org/officeDocument/2006/relationships/notesSlide" Target="/ppt/notesSlides/notesSlide2.xml" Id="R4b78997ca0b44c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48df14246448a" /><Relationship Type="http://schemas.openxmlformats.org/officeDocument/2006/relationships/notesSlide" Target="/ppt/notesSlides/notesSlide3.xml" Id="Re6c48cfdb55b46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d01503c904a52" /><Relationship Type="http://schemas.openxmlformats.org/officeDocument/2006/relationships/notesSlide" Target="/ppt/notesSlides/notesSlide4.xml" Id="Rb8503e80f7404e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6c846ad874654" /><Relationship Type="http://schemas.openxmlformats.org/officeDocument/2006/relationships/notesSlide" Target="/ppt/notesSlides/notesSlide5.xml" Id="R8f2123421dad4b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b8d28869a4b46" /><Relationship Type="http://schemas.openxmlformats.org/officeDocument/2006/relationships/notesSlide" Target="/ppt/notesSlides/notesSlide6.xml" Id="R974a5a2895204e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dbc257bed412e" /><Relationship Type="http://schemas.openxmlformats.org/officeDocument/2006/relationships/image" Target="/ppt/media/image.jpeg" Id="R3bceedd392524636" /><Relationship Type="http://schemas.openxmlformats.org/officeDocument/2006/relationships/notesSlide" Target="/ppt/notesSlides/notesSlide7.xml" Id="Re991aedb233b47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35d602c4a4b39" /><Relationship Type="http://schemas.openxmlformats.org/officeDocument/2006/relationships/notesSlide" Target="/ppt/notesSlides/notesSlide8.xml" Id="R5ed424bb7abf4e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503caed384943" /><Relationship Type="http://schemas.openxmlformats.org/officeDocument/2006/relationships/notesSlide" Target="/ppt/notesSlides/notesSlide9.xml" Id="Red62bddbb6b54f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3dbf1645a45ef" /><Relationship Type="http://schemas.openxmlformats.org/officeDocument/2006/relationships/notesSlide" Target="/ppt/notesSlides/notesSlide10.xml" Id="Rf2f3bac0d0f747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d7cd8be1a48f6" /><Relationship Type="http://schemas.openxmlformats.org/officeDocument/2006/relationships/notesSlide" Target="/ppt/notesSlides/notesSlide11.xml" Id="Rbe390cc29d2642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BE10E-1235-4513-B5C1-B9C108AF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9BB6F-12B7-4B53-B507-48CA27F5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NORTH CENTRAL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6DCB4-A2A0-4B14-B668-4A9DDE05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Executive Committee</a:t>
            </a:r>
          </a:p>
          <a:p xmlns:a="http://schemas.openxmlformats.org/drawingml/2006/main">
            <a:pPr algn="l">
              <a:defRPr sz="43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0353E-6889-49EC-83F3-D92DAEA1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Bridge Year: Stabilize and Launch · August 12,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4309F-2B28-47C9-95A2-76A187D9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715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PRESIDENT DARNELL K.</a:t>
            </a:r>
          </a:p>
          <a:p xmlns:a="http://schemas.openxmlformats.org/drawingml/2006/main">
            <a:pPr algn="l">
              <a:defRPr sz="120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WILLIAMS, SR.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40C08-EE93-4FDD-9BDA-E00E0DF4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39375" y="1095375"/>
            <a:ext cx="142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0" b="0" i="0">
                <a:solidFill>
                  <a:srgbClr val="DCE5F0"/>
                </a:solidFill>
                <a:latin typeface="Georgia"/>
                <a:ea typeface="Georgia"/>
                <a:cs typeface="Georgia"/>
              </a:defRPr>
            </a:pPr>
            <a:r>
              <a:rPr sz="6750" b="0" i="0">
                <a:solidFill>
                  <a:srgbClr val="DCE5F0"/>
                </a:solidFill>
                <a:latin typeface="Georgia"/>
                <a:ea typeface="Georgia"/>
                <a:cs typeface="Georgia"/>
              </a:rPr>
              <a:t>NCU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39C52-B076-4F56-ABFA-86967470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62500"/>
            <a:ext cx="1333500" cy="1333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A8730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8313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43FF2-60D9-4F17-8077-7EC2D592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NCU · BRIDGE-YEAR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27AC2-197A-4D42-B43F-AC60A723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02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A0DA8-20B8-491A-BB45-A659CFA7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A8F5A-08E5-48B1-9F27-2E01C9AB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This is a hard year—not a financial crisis.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DAD4D-8F87-45ED-9CBB-8A4AA979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733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BB809-2E43-4068-8E3F-A247F83C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38350"/>
            <a:ext cx="3733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30D"/>
          </a:solidFill>
          <a:ln xmlns:a="http://schemas.openxmlformats.org/drawingml/2006/main" w="0">
            <a:solidFill>
              <a:srgbClr val="A8730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D67F4-D65B-43FA-874B-98D16282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9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59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±9%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E0CD1-A4A9-4EF8-A959-BA6B2682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Current enrollment estimate around the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budgeted target of 638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FB1A2-A77D-4DCD-989E-F20D9016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050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9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59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$2.0M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7D0D3-C79B-424F-A156-2E62B878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861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Approximate projected operating deficit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880F2-E8D1-4934-9B7A-94D7FAD2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29146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11430">
            <a:solidFill>
              <a:srgbClr val="1F3B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76F16-C504-4463-B0C2-A96B548E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90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0" i="0">
                <a:solidFill>
                  <a:srgbClr val="A8730D"/>
                </a:solidFill>
                <a:latin typeface="Georgia"/>
                <a:ea typeface="Georgia"/>
                <a:cs typeface="Georgia"/>
              </a:defRPr>
            </a:pPr>
            <a:r>
              <a:rPr sz="4125" b="0" i="0">
                <a:solidFill>
                  <a:srgbClr val="A8730D"/>
                </a:solidFill>
                <a:latin typeface="Georgia"/>
                <a:ea typeface="Georgia"/>
                <a:cs typeface="Georgia"/>
              </a:rPr>
              <a:t>$572K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535F8-9B56-4035-969A-770AF526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480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Unbudgeted capital repairs</a:t>
            </a:r>
          </a:p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across four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4A673-80BA-4048-A62E-EDC59C0F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Bank covenants remain satisfied; NCU is stewarding the year from a position of financial integrity.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A12B3-D928-4BAA-8FAA-6D344BFA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00800"/>
            <a:ext cx="369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Final Executive Committee report</a:t>
            </a:r>
          </a:p>
        </p:txBody>
      </p:sp>
    </p:spTree>
    <p:extLst>
      <p:ext uri="{BB962C8B-B14F-4D97-AF65-F5344CB8AC3E}">
        <p14:creationId xmlns:p14="http://schemas.microsoft.com/office/powerpoint/2010/main" val="1439109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F6E5A-0515-4338-96F3-F0FDDAD3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NCU · THREE CONVERGING LINES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06551-30C5-4102-A947-CDDC4082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03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4C2E9-083B-4B99-9256-C302D079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771EE-4317-4BB7-97F5-FA24958E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The bridge year advances three parts of one</a:t>
            </a:r>
          </a:p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strategy.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027BD-6C89-4A74-838A-5A78BAAF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1C3E2-35C5-454D-A891-8E463FA3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19050">
            <a:solidFill>
              <a:srgbClr val="1F3B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0BF65-FD68-45E8-991B-22D8D48F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30D"/>
          </a:solidFill>
          <a:ln xmlns:a="http://schemas.openxmlformats.org/drawingml/2006/main" w="0">
            <a:solidFill>
              <a:srgbClr val="A873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80642-C9C1-4BF4-8AD6-4E81C1F5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003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AE5B0-04F2-4456-81B4-9AA6F11D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Financial strength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5BA4E-42F0-419B-A179-FC28470D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3286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Close the structural gap between</a:t>
            </a:r>
          </a:p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expenses and the TUG-dependent</a:t>
            </a:r>
          </a:p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revenue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BA1CD-052E-40E1-90A4-786776E8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718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19050">
            <a:solidFill>
              <a:srgbClr val="1F3B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A5A7D-305B-4A00-B859-07273D65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48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30D"/>
          </a:solidFill>
          <a:ln xmlns:a="http://schemas.openxmlformats.org/drawingml/2006/main" w="0">
            <a:solidFill>
              <a:srgbClr val="A8730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CA89F-04E9-45FB-82DB-B52422AE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003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39CCC-9893-4F63-BBF2-38B73C80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4805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Graduate ministry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D7E69-88E1-449D-A6B8-C5979BFE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24300"/>
            <a:ext cx="3286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Build an affordable, mission-aligned</a:t>
            </a:r>
          </a:p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enrollment and revenue engine.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6D16B-11F8-4104-BD43-E75CFB38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19050">
            <a:solidFill>
              <a:srgbClr val="1F3B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14FFD-D553-4306-8D7B-5EF82637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30D"/>
          </a:solidFill>
          <a:ln xmlns:a="http://schemas.openxmlformats.org/drawingml/2006/main" w="0">
            <a:solidFill>
              <a:srgbClr val="A8730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2AABC-2FF7-4EDA-8172-5525C60E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0003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C9B13-6305-4FA6-A4A5-710DBF74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Partners + donors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1237A-61C4-43A8-8EA2-07836FE7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24300"/>
            <a:ext cx="3286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Turn trusted relationships into</a:t>
            </a:r>
          </a:p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students, service, and support.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F2A37-01D7-41D2-BC9D-610F652B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The full three-year plan will be presented at the Fall 2026 Board of Regents meeting.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CD11C-A554-4CED-AFEE-BA97ED07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00800"/>
            <a:ext cx="369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2026–2029 Presidential Plan</a:t>
            </a:r>
          </a:p>
        </p:txBody>
      </p:sp>
    </p:spTree>
    <p:extLst>
      <p:ext uri="{BB962C8B-B14F-4D97-AF65-F5344CB8AC3E}">
        <p14:creationId xmlns:p14="http://schemas.microsoft.com/office/powerpoint/2010/main" val="1692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E4F91-93AF-4388-AA14-8AE42C06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NCU · FINANCIAL STRENGTH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02B56-C86D-4751-B44C-9E1ED5D8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04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6B843-E9DC-4177-B95F-DF7A57F3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CFE4F-4644-4BFF-8103-1D003006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Use non-core property to strengthen the</a:t>
            </a:r>
          </a:p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institution—not mask the operating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0C5BB-BC22-4014-8220-2E0BFF71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619625" cy="3114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F3B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86AEE-FEFC-460C-9C9E-8C01735E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SEVEN BROKER PRICE OPINIONS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6F27C-085D-4998-85AC-2D81680F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857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4500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$8.95M—</a:t>
            </a:r>
          </a:p>
          <a:p xmlns:a="http://schemas.openxmlformats.org/drawingml/2006/main">
            <a:pPr algn="l">
              <a:defRPr sz="4500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4500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$11.12M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20AF7-E66C-4993-BBB0-59604610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Planning evidence, not offers or net proceeds. The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reported CFO estimate anticipates $2M–$3M in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possible lender repayment.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D112F-013A-47FA-9BA5-B9D60689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146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A8730D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A8730D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19C27-7868-4CFA-8129-F5DCFC35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Continue Board guidance on disposition and</a:t>
            </a:r>
          </a:p>
          <a:p xmlns:a="http://schemas.openxmlformats.org/drawingml/2006/main">
            <a:pPr algn="l">
              <a:defRPr sz="1425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reinvestment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677E7-2943-46A4-8CED-88409535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051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086BF-61EE-4768-B826-41FB9CD3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147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A8730D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A8730D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CB39E-D2DA-465E-B326-3A3EA297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Obtain lender input and confirm repayment 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1D21F-1034-4FCB-93E0-40C37C67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9052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7961E-A885-4841-BC4B-4AD061A3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148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A8730D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A8730D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4301D-348C-4285-BAA0-AC2299EA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7670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Act on the non-core property sale resolution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93260-111D-4C95-BD00-2CA61719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7053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884A4-CBC2-4BC1-BE79-5124E5CB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149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A8730D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A8730D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FA0A4-6720-4798-A43E-7BEB438B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76800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Establish a working quasi-endowment for future</a:t>
            </a:r>
          </a:p>
          <a:p xmlns:a="http://schemas.openxmlformats.org/drawingml/2006/main">
            <a:pPr algn="l">
              <a:defRPr sz="1425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priorities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3F63A-C553-4327-A408-7795656D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5054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88076-DC63-4F41-A464-3411A3B9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Seven properties · approximately $10.0M average broker opinion · Board retains each decision.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CB235C-49BC-4E51-AC5F-A7D0D935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00800"/>
            <a:ext cx="369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Current planning evidence</a:t>
            </a:r>
          </a:p>
        </p:txBody>
      </p:sp>
    </p:spTree>
    <p:extLst>
      <p:ext uri="{BB962C8B-B14F-4D97-AF65-F5344CB8AC3E}">
        <p14:creationId xmlns:p14="http://schemas.microsoft.com/office/powerpoint/2010/main" val="530621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232053-8855-4B54-BA81-303AA01C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NCU · GRADUATE 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4B9B7-84CA-45A1-8ED1-75AD69EE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05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51136-D71C-43C2-9E89-0F6CEDB9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B9A11-DA15-40E9-9D14-68F92724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Start small, price clearly, and recruit</a:t>
            </a:r>
          </a:p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through people who already trust NCU.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2C22F-05EA-4D03-972E-83FA38BD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30D"/>
          </a:solidFill>
          <a:ln xmlns:a="http://schemas.openxmlformats.org/drawingml/2006/main" w="0">
            <a:solidFill>
              <a:srgbClr val="A8730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C99A9-4F5C-4A25-9578-17095A2B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1AE7E-C5D5-4EB8-99BC-2FDC6184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PROPOSED MINISTRY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A526B-8C5B-49CE-A4E4-4D227655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4800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$340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E2785-5234-4F34-B8A1-15927031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per credit · limited cohort</a:t>
            </a:r>
          </a:p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CFO and Provost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6BF5F-C26C-46E9-A9A3-3163B0B3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19475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3A5C3-0F35-4D77-9493-FD51B54D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194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22860">
            <a:solidFill>
              <a:srgbClr val="1F3B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56AC3-E0F4-49A3-89DC-E4B2820E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670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3DE2E-F386-4AFA-A48A-E83B7C90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433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EXISTING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BC1B5-B55D-423A-BEA8-55341EBD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910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Online graduate</a:t>
            </a:r>
          </a:p>
          <a:p xmlns:a="http://schemas.openxmlformats.org/drawingml/2006/main">
            <a:pPr algn="ctr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programs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A7A8B-A799-4BF5-B423-8529162B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194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22860">
            <a:solidFill>
              <a:srgbClr val="1F3B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F35C0-D658-440B-A8D6-F4BF0636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670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307AB-85D6-4E78-8118-56F41CCF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9433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TRUSTED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F5ABD-2F89-4E4E-9CD7-962E9AEA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19100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Church, district, alumni,</a:t>
            </a:r>
          </a:p>
          <a:p xmlns:a="http://schemas.openxmlformats.org/drawingml/2006/main">
            <a:pPr algn="ctr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and missions channels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3D936-5002-4BC0-B6C6-8CA5E854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43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D7917-1602-4AE8-A1C4-3329AF0D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33725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125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6F91C-36E7-4020-9BA5-F2EC4A39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767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YEAR 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2927E-B777-46B4-8835-592F99EA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33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New-student 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1FDEB-ECD2-4A38-BC95-217F6A5E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91125"/>
            <a:ext cx="741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30D"/>
          </a:solidFill>
          <a:ln xmlns:a="http://schemas.openxmlformats.org/drawingml/2006/main" w="0">
            <a:solidFill>
              <a:srgbClr val="A8730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08A26-F684-44EA-A876-24DA7541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625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972599-C473-483A-BB35-C2C3E3E5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340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Persistence · academic capacity · net revenue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109E30-019C-4FC3-8416-B215C0FE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Published 2026–2027 graduate tuition: $680 per credit plus fees.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14B473-EE18-4B08-9444-4ADFBA03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00800"/>
            <a:ext cx="369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Limited test · CFO and Provost approval</a:t>
            </a:r>
          </a:p>
        </p:txBody>
      </p:sp>
    </p:spTree>
    <p:extLst>
      <p:ext uri="{BB962C8B-B14F-4D97-AF65-F5344CB8AC3E}">
        <p14:creationId xmlns:p14="http://schemas.microsoft.com/office/powerpoint/2010/main" val="9521764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8813A3-8495-4A76-BB92-44FC8C93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NCU · WORK ALREADY UNDERWAY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4737E-EB59-4062-9A9E-1A5E84F0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06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65DE1-1D2C-4999-A70D-ED060589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BD23A-19F8-4810-85E4-4C188ED8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Five initiatives carry the Year One bridge</a:t>
            </a:r>
          </a:p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A77A7-9E34-48AC-AE8A-86F13CD5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solidFill>
              <a:srgbClr val="DC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4C931-D32C-469C-8B8B-EF114DF7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solidFill>
              <a:srgbClr val="DC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B9F67-6AC7-4AA0-ABA0-51628DDB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solidFill>
              <a:srgbClr val="DCE5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2EA50-7254-470D-BF8A-1CA24FE3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solidFill>
              <a:srgbClr val="DCE5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45FC3-C0DE-4FAA-93E5-29DA5EEC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3847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solidFill>
              <a:srgbClr val="DC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43F21-F7A6-43BF-87E2-A8FD4399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90975"/>
            <a:ext cx="1352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solidFill>
              <a:srgbClr val="DCE5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9183B-2E0C-45FE-89E7-3D106F80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43475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solidFill>
              <a:srgbClr val="DC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41E1E-88A3-4DB7-87D6-F2119D74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38475"/>
            <a:ext cx="285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solidFill>
              <a:srgbClr val="DC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96AC7-E30B-4E5E-9538-7CAB1499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243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730D"/>
          </a:solidFill>
          <a:ln xmlns:a="http://schemas.openxmlformats.org/drawingml/2006/main" w="0">
            <a:solidFill>
              <a:srgbClr val="A8730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0C96E-0901-4EED-8F0C-E0094D58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Grow recurring</a:t>
            </a:r>
          </a:p>
          <a:p xmlns:a="http://schemas.openxmlformats.org/drawingml/2006/main">
            <a:pPr algn="l">
              <a:defRPr sz="2100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revenue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A4D53-2924-4A1B-A255-71A32BA2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51788-6922-42FB-8330-91B4DED8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Launch new</a:t>
            </a:r>
          </a:p>
          <a:p xmlns:a="http://schemas.openxmlformats.org/drawingml/2006/main">
            <a:pPr algn="l">
              <a:defRPr sz="120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graduate cohorts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726B8-D0CF-4A09-B5B9-B0DFD48A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D039A-E35C-4DA7-9861-295F9850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Phase out</a:t>
            </a:r>
          </a:p>
          <a:p xmlns:a="http://schemas.openxmlformats.org/drawingml/2006/main">
            <a:pPr algn="l">
              <a:defRPr sz="120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block pricing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03893-C21A-4259-B6F7-3F342AFE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C338A-A651-4DD9-BA64-A1A8784C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Industry</a:t>
            </a:r>
          </a:p>
          <a:p xmlns:a="http://schemas.openxmlformats.org/drawingml/2006/main">
            <a:pPr algn="l">
              <a:defRPr sz="120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pricing study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C2B07-279B-4581-BECC-EFEB52E7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Align decisions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6F374-5FBA-4978-9BDE-5DB83815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52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C7934F-07AE-41F4-AF6A-B647952F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Commission the Board-Cabinet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Working Group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55F367-A67A-451F-BA78-18A966CC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Steward capital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F0CDFA-43DF-4DAB-9830-C22576C0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B599D3-DA76-4C17-BA5E-C32E806D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Convert non-core real estate into a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working quasi-endowment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B221F6-B59F-4856-BFA4-0DE80DFC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03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38100">
            <a:solidFill>
              <a:srgbClr val="A8730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A76C05-9245-4C52-BC62-7EF576E4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3377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7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$1.0M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3F1F0F-5AC3-41CB-92C7-031700A7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ONE GOAL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EE2CD-C58C-47D7-8EE4-170209EF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Detailed three-year projections remain for the Fall 2026 Board report.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F4E6F7-DBDD-40CA-8688-EC5127CC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00800"/>
            <a:ext cx="369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Bridge Year · Stabilize and Launch</a:t>
            </a:r>
          </a:p>
        </p:txBody>
      </p:sp>
    </p:spTree>
    <p:extLst>
      <p:ext uri="{BB962C8B-B14F-4D97-AF65-F5344CB8AC3E}">
        <p14:creationId xmlns:p14="http://schemas.microsoft.com/office/powerpoint/2010/main" val="1187051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268B0-F800-4114-9024-29F5AF6B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NCU · UNDERGRADUATE REACH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BD504-330A-4FED-8A28-7E9B2A13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07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41EA3-78E0-4376-B1E9-7ACE1AD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16E6F-E566-4357-AF32-334DE523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Every Christian high school in Minnesota</a:t>
            </a:r>
          </a:p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should hear NCU’s mission directly.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eedd392524636"/>
          <a:stretch xmlns:a="http://schemas.openxmlformats.org/drawingml/2006/main"/>
        </p:blipFill>
        <p:spPr>
          <a:xfrm xmlns:a="http://schemas.openxmlformats.org/drawingml/2006/main">
            <a:off x="937780" y="2571750"/>
            <a:ext cx="2944091" cy="3238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39CE3-4766-43F5-B1E7-AB1140DA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860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Statewide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2CB5F-FF46-4F55-B111-591D5254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9560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a direct mission invitation with</a:t>
            </a:r>
          </a:p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named ownership and</a:t>
            </a:r>
          </a:p>
          <a:p xmlns:a="http://schemas.openxmlformats.org/drawingml/2006/main">
            <a:pPr algn="l">
              <a:defRPr sz="142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documented follow-through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50765-D2EE-449D-A94B-410ED8F4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10025"/>
            <a:ext cx="653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3B4D0-44BA-4F02-BFBC-3D0E761D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10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1BDD2-D38D-469E-AD56-22D6D7F7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142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One verified</a:t>
            </a:r>
          </a:p>
          <a:p xmlns:a="http://schemas.openxmlformats.org/drawingml/2006/main">
            <a:pPr algn="l">
              <a:defRPr sz="1275" b="0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statewide school</a:t>
            </a:r>
          </a:p>
          <a:p xmlns:a="http://schemas.openxmlformats.org/drawingml/2006/main">
            <a:pPr algn="l">
              <a:defRPr sz="1275" b="0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65E9A-9806-47DD-9C5A-2D6024FA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0025"/>
            <a:ext cx="95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319EA-88C4-40B3-9D56-AA2B3154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DEDD6-1D40-4BEA-9611-4F68DDC5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14850"/>
            <a:ext cx="142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A named</a:t>
            </a:r>
          </a:p>
          <a:p xmlns:a="http://schemas.openxmlformats.org/drawingml/2006/main">
            <a:pPr algn="l">
              <a:defRPr sz="1275" b="0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relationship owner</a:t>
            </a:r>
          </a:p>
          <a:p xmlns:a="http://schemas.openxmlformats.org/drawingml/2006/main">
            <a:pPr algn="l">
              <a:defRPr sz="1275" b="0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for every school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796A9-B336-4AF0-8B92-134645D9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0025"/>
            <a:ext cx="95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AC71D-0D55-4ACF-B511-59D0333F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10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82A1B-BF0E-44EE-92BC-A0E5B69F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142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Campus, virtual,</a:t>
            </a:r>
          </a:p>
          <a:p xmlns:a="http://schemas.openxmlformats.org/drawingml/2006/main">
            <a:pPr algn="l">
              <a:defRPr sz="1275" b="0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counselor, and</a:t>
            </a:r>
          </a:p>
          <a:p xmlns:a="http://schemas.openxmlformats.org/drawingml/2006/main">
            <a:pPr algn="l">
              <a:defRPr sz="1275" b="0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pastor engagement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FC8C4-8288-424E-AB2B-A53C8FF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10025"/>
            <a:ext cx="95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ABDC4-6CDC-418C-A550-C4DE3712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10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0FBFD-4995-4A7F-8516-C9A4ADF0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14850"/>
            <a:ext cx="142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Follow-through</a:t>
            </a:r>
          </a:p>
          <a:p xmlns:a="http://schemas.openxmlformats.org/drawingml/2006/main">
            <a:pPr algn="l">
              <a:defRPr sz="1275" b="0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from inquiry to</a:t>
            </a:r>
          </a:p>
          <a:p xmlns:a="http://schemas.openxmlformats.org/drawingml/2006/main">
            <a:pPr algn="l">
              <a:defRPr sz="1275" b="0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deposit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39631-6956-40EC-B5E3-422E6957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Track school source, inquiry, application, deposit, start, and net tuition.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327FB-7E12-4CB5-838B-65ABF81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00800"/>
            <a:ext cx="369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Complementary enrollment outreach</a:t>
            </a:r>
          </a:p>
        </p:txBody>
      </p:sp>
    </p:spTree>
    <p:extLst>
      <p:ext uri="{BB962C8B-B14F-4D97-AF65-F5344CB8AC3E}">
        <p14:creationId xmlns:p14="http://schemas.microsoft.com/office/powerpoint/2010/main" val="15303312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CBA715-29CA-409A-A4C9-543BB9B3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NCU · PARTNERSHIPS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47D8B-ABD0-46CF-8775-365DC84F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08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FFF5B-0145-4B85-ADD4-D5CA279C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85C5A-67E6-4C78-A053-73B9CAD7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Named relationships are becoming a</a:t>
            </a:r>
          </a:p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working enrollment and ministry network.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D1749-37E5-4B8E-A37A-229B9D10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1684">
            <a:off x="2806504" y="3762375"/>
            <a:ext cx="334049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solidFill>
              <a:srgbClr val="DC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C1B31-A55C-4576-88B9-3188776A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48316">
            <a:off x="6045004" y="3762375"/>
            <a:ext cx="334049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solidFill>
              <a:srgbClr val="DC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83DFE-1911-4883-871A-73880CAD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20536">
            <a:off x="3505703" y="4714875"/>
            <a:ext cx="270409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solidFill>
              <a:srgbClr val="DCE5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1F7A1-C21E-4BE9-BA8E-7120537E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379464">
            <a:off x="5982203" y="4714875"/>
            <a:ext cx="270409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solidFill>
              <a:srgbClr val="DCE5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102D4-9578-47DF-8FFE-0E7B3CD3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14975" y="3590925"/>
            <a:ext cx="1162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solidFill>
              <a:srgbClr val="DC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6A4AD-6314-4596-A47A-2ECDCB9A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12383">
            <a:solidFill>
              <a:srgbClr val="1F3B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B11C5-1903-42C2-8FFD-7EBE8334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480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River Valley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F5C3B-7CF0-4C93-A633-A2680DE2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12383">
            <a:solidFill>
              <a:srgbClr val="1F3B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5CC69-CDBF-491E-9BFC-0A6B9D40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480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Substance Church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7EDB1-2642-4D38-B7D0-A3B81B6F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12383">
            <a:solidFill>
              <a:srgbClr val="1F3B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65A28-2EA7-4ED1-8647-DF199151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530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Puerto Rico District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F0E83-9842-483B-9CF2-ECA67AE0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006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12383">
            <a:solidFill>
              <a:srgbClr val="1F3B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D2EEE-0230-4169-B6AE-AA2DDC74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530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Harris Institute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D5338-9B4B-4514-A333-0320D75D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12383">
            <a:solidFill>
              <a:srgbClr val="1F3B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57350-3A67-4504-AB99-17B54543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289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AG · NBF · Districts · Missions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43707-787C-4F3E-9465-DAD1942A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5AFFB-C673-4A9C-9367-5DA8BB6C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671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NCU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64C883-BBB4-40AD-B90F-7EB7E082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53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GRADUATE COHORTS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693AB-870E-4D6F-8006-21287480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953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NONCREDIT PATHWAYS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50C3CF-7225-40E3-B7EB-C530FD85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53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BILINGUAL ACCESS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6E96D-EEC4-4A93-9481-324B53DD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953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ARTICULATION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20C7AA-7C63-4C38-BF74-CAF9E25C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953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8730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8730D"/>
                </a:solidFill>
                <a:latin typeface="Aptos"/>
                <a:ea typeface="Aptos"/>
                <a:cs typeface="Aptos"/>
              </a:rPr>
              <a:t>REFERRALS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7E2165-BFFE-4092-A22B-97204529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Full financial and mission-impact analysis follows at the Fall 2026 Board meeting.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359D2D-03F5-45F4-BC28-B913AAE7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00800"/>
            <a:ext cx="369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Partnership network</a:t>
            </a:r>
          </a:p>
        </p:txBody>
      </p:sp>
    </p:spTree>
    <p:extLst>
      <p:ext uri="{BB962C8B-B14F-4D97-AF65-F5344CB8AC3E}">
        <p14:creationId xmlns:p14="http://schemas.microsoft.com/office/powerpoint/2010/main" val="2844933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81942-49DC-4D15-AD7C-6A82EC13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NCU · ADVANCEMENT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4A591-54E5-4A03-B7D2-3F4F15E9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09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105F2-2553-4811-AB71-883D40F2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18DE4-C68C-40E5-B7E9-80C2C970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The President’s Advancement Council will</a:t>
            </a:r>
          </a:p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widen the circle investing in NCU.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07DCD-5A72-49D1-901C-FCAEAE36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38375"/>
            <a:ext cx="4000500" cy="400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23ECE-1D4B-4706-A69D-5517E0AA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67025"/>
            <a:ext cx="2743200" cy="2743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730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D90E5-CC54-489E-A90A-FACC7096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48050"/>
            <a:ext cx="1581150" cy="1581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23327-2261-42C5-9856-610827E5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05250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7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NCU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43E6E-5EDD-4498-8343-DC48AF19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67000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14288">
            <a:solidFill>
              <a:srgbClr val="1F3B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E230E-6081-4D0C-96DD-6894DFB6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90850"/>
            <a:ext cx="86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Alumni +</a:t>
            </a:r>
          </a:p>
          <a:p xmlns:a="http://schemas.openxmlformats.org/drawingml/2006/main">
            <a:pPr algn="ctr">
              <a:defRPr sz="975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pastors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61A63-7C90-4D6F-9267-FE8F7C8A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43225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14288">
            <a:solidFill>
              <a:srgbClr val="1F3B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615DD-1BE8-44C4-9E46-23168A66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267075"/>
            <a:ext cx="866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Business +</a:t>
            </a:r>
          </a:p>
          <a:p xmlns:a="http://schemas.openxmlformats.org/drawingml/2006/main">
            <a:pPr algn="ctr">
              <a:defRPr sz="975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civic</a:t>
            </a:r>
          </a:p>
          <a:p xmlns:a="http://schemas.openxmlformats.org/drawingml/2006/main">
            <a:pPr algn="ctr">
              <a:defRPr sz="975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leaders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A24C4-0606-465C-A4AE-9198BA25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292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14288">
            <a:solidFill>
              <a:srgbClr val="1F3B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C8213-DFAB-413A-A70A-150EE5E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00675"/>
            <a:ext cx="1009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Donors +</a:t>
            </a:r>
          </a:p>
          <a:p xmlns:a="http://schemas.openxmlformats.org/drawingml/2006/main">
            <a:pPr algn="ctr">
              <a:defRPr sz="975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foundations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0F52F-AA17-4F3B-94F2-01B7A61E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05125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 i="0">
                <a:solidFill>
                  <a:srgbClr val="A8730D"/>
                </a:solidFill>
                <a:latin typeface="Georgia"/>
                <a:ea typeface="Georgia"/>
                <a:cs typeface="Georgia"/>
              </a:defRPr>
            </a:pPr>
            <a:r>
              <a:rPr sz="2925" b="0" i="0">
                <a:solidFill>
                  <a:srgbClr val="A8730D"/>
                </a:solidFill>
                <a:latin typeface="Georgia"/>
                <a:ea typeface="Georgia"/>
                <a:cs typeface="Georgia"/>
              </a:rPr>
              <a:t>12–15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4629B-127C-4451-B228-FE3373DF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81325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founding members with three-year staggered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terms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A7FE3-243B-4272-A662-44F2E66C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71875"/>
            <a:ext cx="557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EA215-7DA9-4BC8-A723-2D4EACCE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100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 i="0">
                <a:solidFill>
                  <a:srgbClr val="A8730D"/>
                </a:solidFill>
                <a:latin typeface="Georgia"/>
                <a:ea typeface="Georgia"/>
                <a:cs typeface="Georgia"/>
              </a:defRPr>
            </a:pPr>
            <a:r>
              <a:rPr sz="2925" b="0" i="0">
                <a:solidFill>
                  <a:srgbClr val="A8730D"/>
                </a:solidFill>
                <a:latin typeface="Georgia"/>
                <a:ea typeface="Georgia"/>
                <a:cs typeface="Georgia"/>
              </a:rPr>
              <a:t>$25K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91948-139D-4B7A-A597-BA954826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86200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given or helped secure by each member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annually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DECEA-F816-4D5A-9D6F-14A0A337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76750"/>
            <a:ext cx="557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2758B-67EF-41BE-9EBC-A2C0E7CF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14875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 i="0">
                <a:solidFill>
                  <a:srgbClr val="A8730D"/>
                </a:solidFill>
                <a:latin typeface="Georgia"/>
                <a:ea typeface="Georgia"/>
                <a:cs typeface="Georgia"/>
              </a:defRPr>
            </a:pPr>
            <a:r>
              <a:rPr sz="2925" b="0" i="0">
                <a:solidFill>
                  <a:srgbClr val="A8730D"/>
                </a:solidFill>
                <a:latin typeface="Georgia"/>
                <a:ea typeface="Georgia"/>
                <a:cs typeface="Georgia"/>
              </a:rPr>
              <a:t>$3.15M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A9748F-01ED-479F-9B1B-480A9CD1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91075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illustrative three-year total before grants,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planned gifts, or property proceeds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5C9DD2-812A-4D3F-8DB9-97E26531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81625"/>
            <a:ext cx="557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A47A0E-9556-46B9-AD86-1EC8B669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Supports the Office of the President and existing advancement staff; does not duplicate Board governance.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CB4CE7-9D85-4D5D-AE46-4C4E7FFE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00800"/>
            <a:ext cx="369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President’s Advancement Council</a:t>
            </a:r>
          </a:p>
        </p:txBody>
      </p:sp>
    </p:spTree>
    <p:extLst>
      <p:ext uri="{BB962C8B-B14F-4D97-AF65-F5344CB8AC3E}">
        <p14:creationId xmlns:p14="http://schemas.microsoft.com/office/powerpoint/2010/main" val="2028069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74CC5-D306-4534-ADB6-E84110B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NCU · REQUESTED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117FF-1905-4FD2-B0A2-C55669F0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10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FFD58-4744-4DF1-90B1-690A3BEC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09D73-4236-4DF7-9FEB-9AF973E8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Four actions keep the bridge-year work</a:t>
            </a:r>
          </a:p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moving.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D8AA8-AEA9-4570-93D9-889C583E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08204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F3B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CD7E4-3F1D-48E4-8314-FEE138DA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66975"/>
            <a:ext cx="19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E70C6-DC0A-4139-8386-93CD4D09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C015E-95C0-4EAE-880D-2A2B982E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33675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67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Convene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0C33E-EA6B-41C1-BA39-551E6038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Commission the Board-Cabinet Working Group.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07CA4-2CCE-4FEA-A7AB-1771A654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33675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0" i="0">
                <a:solidFill>
                  <a:srgbClr val="A8730D"/>
                </a:solidFill>
                <a:latin typeface="Georgia"/>
                <a:ea typeface="Georgia"/>
                <a:cs typeface="Georgia"/>
              </a:defRPr>
            </a:pPr>
            <a:r>
              <a:rPr sz="3675" b="0" i="0">
                <a:solidFill>
                  <a:srgbClr val="A8730D"/>
                </a:solidFill>
                <a:latin typeface="Georgia"/>
                <a:ea typeface="Georgia"/>
                <a:cs typeface="Georgia"/>
              </a:rPr>
              <a:t>Guide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2640E-6266-4E1F-B68E-97DC3AC8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8137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Continue direction on property disposition and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reinvestment.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29BBB-47E1-4FBA-AB8F-412072C3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0" i="0">
                <a:solidFill>
                  <a:srgbClr val="A8730D"/>
                </a:solidFill>
                <a:latin typeface="Georgia"/>
                <a:ea typeface="Georgia"/>
                <a:cs typeface="Georgia"/>
              </a:defRPr>
            </a:pPr>
            <a:r>
              <a:rPr sz="3675" b="0" i="0">
                <a:solidFill>
                  <a:srgbClr val="A8730D"/>
                </a:solidFill>
                <a:latin typeface="Georgia"/>
                <a:ea typeface="Georgia"/>
                <a:cs typeface="Georgia"/>
              </a:rPr>
              <a:t>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699DC-D1BE-4EFB-B0EB-B8DBACAE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Approve the non-core property sale and cell-tower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resolutions.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6364D-6259-41F8-9225-329CE78C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910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67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Open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958E3-E051-4E6C-AF11-90A5C994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387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Help the Advancement Council reach churches,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donors, employers, and civic partners.</a:t>
            </a:r>
          </a:p>
        </p:txBody>
      </p:sp>
    </p:spTree>
    <p:extLst>
      <p:ext uri="{BB962C8B-B14F-4D97-AF65-F5344CB8AC3E}">
        <p14:creationId xmlns:p14="http://schemas.microsoft.com/office/powerpoint/2010/main" val="12264040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07A963-8962-4197-99BD-D630B338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NCU · WHAT COMES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9ACA5-337A-49EA-A832-E1B3C143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F3B6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F3B69"/>
                </a:solidFill>
                <a:latin typeface="Aptos"/>
                <a:ea typeface="Aptos"/>
                <a:cs typeface="Aptos"/>
              </a:rPr>
              <a:t>11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42D09-302F-433A-A7DE-31A5FEE7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B38BF-FE66-488B-93EA-363DD340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This update leads to one integrated plan in</a:t>
            </a:r>
          </a:p>
          <a:p xmlns:a="http://schemas.openxmlformats.org/drawingml/2006/main">
            <a:pPr algn="l">
              <a:def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Fall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15955-F6E1-49CB-8626-37234E95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E831E-9108-42F7-82E5-9A18451A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B69"/>
          </a:solidFill>
          <a:ln xmlns:a="http://schemas.openxmlformats.org/drawingml/2006/main" w="0">
            <a:solidFill>
              <a:srgbClr val="1F3B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06C7F-3D23-4419-889A-4BAC1FF2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Aug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C66CF-82C3-42E0-917B-C5CB9C54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92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Platinum Bank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engagement and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CORE Financial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Resiliency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746BD-0D48-4701-B984-68B86C16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14600"/>
            <a:ext cx="95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0211A-4F66-43AB-A3F3-5BABB6E9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DCDAF-669A-4748-8E40-F70AC9BD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90900"/>
            <a:ext cx="192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integrated CORE and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Presidential plan with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one enrollment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33C4A-6E98-4262-B1ED-25BF2981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14600"/>
            <a:ext cx="95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DDA76-1D04-4484-85BC-35D37F38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0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8ED88-0AED-4F05-9B1D-29A51D74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90900"/>
            <a:ext cx="192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new graduate students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in the Year One launch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1F7C8-BCF5-499D-9A9A-E990C248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14600"/>
            <a:ext cx="95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7F20E-914E-4647-87E0-F5E84065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A8730D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A8730D"/>
                </a:solidFill>
                <a:latin typeface="Georgia"/>
                <a:ea typeface="Georgia"/>
                <a:cs typeface="Georgia"/>
              </a:rPr>
              <a:t>Statewide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18086-426E-4ADF-AB92-6F02E4F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192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Christian-school outreach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with named ownership and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source tracking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B10EA-9C8E-493B-AE7F-2A102F62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14600"/>
            <a:ext cx="95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A"/>
          </a:solidFill>
          <a:ln xmlns:a="http://schemas.openxmlformats.org/drawingml/2006/main" w="0">
            <a:solidFill>
              <a:srgbClr val="D5D7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E722C-61AF-4430-92D9-82372DBD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03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F3B69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F3B69"/>
                </a:solidFill>
                <a:latin typeface="Georgia"/>
                <a:ea typeface="Georgia"/>
                <a:cs typeface="Georgia"/>
              </a:rPr>
              <a:t>Fall ’26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325ED-1C79-48C7-83E4-81695802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924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full three-year financial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and partnership report</a:t>
            </a:r>
          </a:p>
          <a:p xmlns:a="http://schemas.openxmlformats.org/drawingml/2006/main">
            <a:pPr algn="l">
              <a:defRPr sz="1275" b="0" i="0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81818"/>
                </a:solidFill>
                <a:latin typeface="Aptos"/>
                <a:ea typeface="Aptos"/>
                <a:cs typeface="Aptos"/>
              </a:rPr>
              <a:t>to the Board of Regents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9C9F9D-78B7-4693-AD30-3C475486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75" b="0" i="0">
                <a:solidFill>
                  <a:srgbClr val="A8730D"/>
                </a:solidFill>
                <a:latin typeface="Georgia"/>
                <a:ea typeface="Georgia"/>
                <a:cs typeface="Georgia"/>
              </a:defRPr>
            </a:pPr>
            <a:r>
              <a:rPr sz="2775" b="0" i="0">
                <a:solidFill>
                  <a:srgbClr val="A8730D"/>
                </a:solidFill>
                <a:latin typeface="Georgia"/>
                <a:ea typeface="Georgia"/>
                <a:cs typeface="Georgia"/>
              </a:rPr>
              <a:t>A bridge year with work already underway.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190CC-8A58-4D19-84AB-E4237B56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One plan · one capital plan · one set of measures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6FEE7-E9AD-4B78-B82F-8208E10A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00800"/>
            <a:ext cx="369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6A7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66A70"/>
                </a:solidFill>
                <a:latin typeface="Aptos"/>
                <a:ea typeface="Aptos"/>
                <a:cs typeface="Aptos"/>
              </a:rPr>
              <a:t>Executive Committee update</a:t>
            </a:r>
          </a:p>
        </p:txBody>
      </p:sp>
    </p:spTree>
    <p:extLst>
      <p:ext uri="{BB962C8B-B14F-4D97-AF65-F5344CB8AC3E}">
        <p14:creationId xmlns:p14="http://schemas.microsoft.com/office/powerpoint/2010/main" val="325426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2026-08-13T18:09:06.5550000Z</dcterms:created>
  <dcterms:modified xsi:type="dcterms:W3CDTF">2026-08-13T18:09:06.5550000Z</dcterms:modified>
</coreProperties>
</file>